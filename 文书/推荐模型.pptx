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</p:sldIdLst>
  <p:sldSz cx="12192000" cy="6858000"/>
  <p:notesSz cx="6858000" cy="9144000"/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7854" autoAdjust="0"/>
    <p:restoredTop sz="94660"/>
  </p:normalViewPr>
  <p:slideViewPr>
    <p:cSldViewPr snapToGrid="0">
      <p:cViewPr varScale="1">
        <p:scale>
          <a:sx n="117" d="100"/>
          <a:sy n="117" d="100"/>
        </p:scale>
        <p:origin x="504" y="8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0D962D46-8826-1AE7-1B2B-C7CAE5B152B2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副标题 2">
            <a:extLst>
              <a:ext uri="{FF2B5EF4-FFF2-40B4-BE49-F238E27FC236}">
                <a16:creationId xmlns:a16="http://schemas.microsoft.com/office/drawing/2014/main" id="{1DBA438A-88BA-B2BE-CAB9-92C13256F51F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/>
              <a:t>单击此处编辑母版副标题样式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0F44D700-3111-5345-E966-F7E6BEBF5F3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4C83FC3-1429-4BE2-AF3A-FD0092C2A7EC}" type="datetimeFigureOut">
              <a:rPr lang="zh-CN" altLang="en-US" smtClean="0"/>
              <a:t>2026/1/4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D36AC67C-A0CA-4872-59A7-A517E203580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66BF34A9-9E09-0EAD-272B-8CBFD360E73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F22058F-549E-4618-96BC-544ED8E98B16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50570824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92CBD701-3B96-2C18-4825-57E8244CBAB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0C23177A-8D99-45E6-DA0F-F3B2C5DA0BF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FD77D809-556D-F4A1-C0E9-4A33A1C4B08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4C83FC3-1429-4BE2-AF3A-FD0092C2A7EC}" type="datetimeFigureOut">
              <a:rPr lang="zh-CN" altLang="en-US" smtClean="0"/>
              <a:t>2026/1/4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B438462B-16CB-B06C-8F3D-5A0804AA47A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B80204AE-5905-8908-D768-189B899E3E6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F22058F-549E-4618-96BC-544ED8E98B16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4717966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349CB643-A083-7464-0D29-8295FC5D672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6C6BA985-DB77-8C7B-0258-885260C4E09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CBF3F4E1-D12B-D352-B13A-3047AE1E975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4C83FC3-1429-4BE2-AF3A-FD0092C2A7EC}" type="datetimeFigureOut">
              <a:rPr lang="zh-CN" altLang="en-US" smtClean="0"/>
              <a:t>2026/1/4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F34B4492-74AF-5062-C37E-54A30BDF709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05F0B3CA-42A5-9FFA-EEA3-C50FB87A6BE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F22058F-549E-4618-96BC-544ED8E98B16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89088552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4F743905-C8E6-319D-6950-95601093F28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CE174344-DFF6-005F-8316-D014CE5CB92B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内容占位符 3">
            <a:extLst>
              <a:ext uri="{FF2B5EF4-FFF2-40B4-BE49-F238E27FC236}">
                <a16:creationId xmlns:a16="http://schemas.microsoft.com/office/drawing/2014/main" id="{BB87C912-EC6D-1B93-415B-329690E3DD16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3D569284-F65F-157F-D3DB-EF0BF23B315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4C83FC3-1429-4BE2-AF3A-FD0092C2A7EC}" type="datetimeFigureOut">
              <a:rPr lang="zh-CN" altLang="en-US" smtClean="0"/>
              <a:t>2026/1/4</a:t>
            </a:fld>
            <a:endParaRPr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73C1479F-71C7-C985-56A0-70EC4199C69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2FCB132D-0E47-711E-4E41-1F691BE5960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F22058F-549E-4618-96BC-544ED8E98B16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85098914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C4023C20-6DDB-086F-12C6-BC638D50569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59E408CC-D224-F391-92AC-CBCB0460697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内容占位符 3">
            <a:extLst>
              <a:ext uri="{FF2B5EF4-FFF2-40B4-BE49-F238E27FC236}">
                <a16:creationId xmlns:a16="http://schemas.microsoft.com/office/drawing/2014/main" id="{C0DA6FFC-F862-0D02-65A7-306001AFD065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5" name="文本占位符 4">
            <a:extLst>
              <a:ext uri="{FF2B5EF4-FFF2-40B4-BE49-F238E27FC236}">
                <a16:creationId xmlns:a16="http://schemas.microsoft.com/office/drawing/2014/main" id="{F6209648-17D0-00B2-7D47-022D7A16175A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6" name="内容占位符 5">
            <a:extLst>
              <a:ext uri="{FF2B5EF4-FFF2-40B4-BE49-F238E27FC236}">
                <a16:creationId xmlns:a16="http://schemas.microsoft.com/office/drawing/2014/main" id="{5D42F356-3DFD-BF68-4F83-2387031964B5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7" name="日期占位符 6">
            <a:extLst>
              <a:ext uri="{FF2B5EF4-FFF2-40B4-BE49-F238E27FC236}">
                <a16:creationId xmlns:a16="http://schemas.microsoft.com/office/drawing/2014/main" id="{090DAE6C-A20D-6EDB-77D1-6473AACCD75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4C83FC3-1429-4BE2-AF3A-FD0092C2A7EC}" type="datetimeFigureOut">
              <a:rPr lang="zh-CN" altLang="en-US" smtClean="0"/>
              <a:t>2026/1/4</a:t>
            </a:fld>
            <a:endParaRPr lang="zh-CN" altLang="en-US"/>
          </a:p>
        </p:txBody>
      </p:sp>
      <p:sp>
        <p:nvSpPr>
          <p:cNvPr id="8" name="页脚占位符 7">
            <a:extLst>
              <a:ext uri="{FF2B5EF4-FFF2-40B4-BE49-F238E27FC236}">
                <a16:creationId xmlns:a16="http://schemas.microsoft.com/office/drawing/2014/main" id="{1B01F6A6-49BA-AE1B-9E9F-431A5D68743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灯片编号占位符 8">
            <a:extLst>
              <a:ext uri="{FF2B5EF4-FFF2-40B4-BE49-F238E27FC236}">
                <a16:creationId xmlns:a16="http://schemas.microsoft.com/office/drawing/2014/main" id="{B75A398B-748F-6802-02EC-1A7A725BA02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F22058F-549E-4618-96BC-544ED8E98B16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15980779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79D694B8-9BBF-9B9F-5803-11170EEA594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日期占位符 2">
            <a:extLst>
              <a:ext uri="{FF2B5EF4-FFF2-40B4-BE49-F238E27FC236}">
                <a16:creationId xmlns:a16="http://schemas.microsoft.com/office/drawing/2014/main" id="{3E23E6FE-BB98-08FF-54DD-00610C15433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4C83FC3-1429-4BE2-AF3A-FD0092C2A7EC}" type="datetimeFigureOut">
              <a:rPr lang="zh-CN" altLang="en-US" smtClean="0"/>
              <a:t>2026/1/4</a:t>
            </a:fld>
            <a:endParaRPr lang="zh-CN" altLang="en-US"/>
          </a:p>
        </p:txBody>
      </p:sp>
      <p:sp>
        <p:nvSpPr>
          <p:cNvPr id="4" name="页脚占位符 3">
            <a:extLst>
              <a:ext uri="{FF2B5EF4-FFF2-40B4-BE49-F238E27FC236}">
                <a16:creationId xmlns:a16="http://schemas.microsoft.com/office/drawing/2014/main" id="{BB94A0C6-3AEE-B69C-3AAC-530122C83AE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>
            <a:extLst>
              <a:ext uri="{FF2B5EF4-FFF2-40B4-BE49-F238E27FC236}">
                <a16:creationId xmlns:a16="http://schemas.microsoft.com/office/drawing/2014/main" id="{4F9C77EF-32A7-AE99-68BB-3EEC1B340C0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F22058F-549E-4618-96BC-544ED8E98B16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43831994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>
            <a:extLst>
              <a:ext uri="{FF2B5EF4-FFF2-40B4-BE49-F238E27FC236}">
                <a16:creationId xmlns:a16="http://schemas.microsoft.com/office/drawing/2014/main" id="{B7ABC2C9-2065-0B13-3E02-A8F2F861E7A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4C83FC3-1429-4BE2-AF3A-FD0092C2A7EC}" type="datetimeFigureOut">
              <a:rPr lang="zh-CN" altLang="en-US" smtClean="0"/>
              <a:t>2026/1/4</a:t>
            </a:fld>
            <a:endParaRPr lang="zh-CN" altLang="en-US"/>
          </a:p>
        </p:txBody>
      </p:sp>
      <p:sp>
        <p:nvSpPr>
          <p:cNvPr id="3" name="页脚占位符 2">
            <a:extLst>
              <a:ext uri="{FF2B5EF4-FFF2-40B4-BE49-F238E27FC236}">
                <a16:creationId xmlns:a16="http://schemas.microsoft.com/office/drawing/2014/main" id="{42F079C5-B315-4B98-520F-F3CAC21FD93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8D8E4446-AD59-1EC2-7749-23647D5AEC3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F22058F-549E-4618-96BC-544ED8E98B16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73907338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ACC92DAF-6933-DA62-52F3-82E481915B8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13740B73-755D-AB22-B54B-2FEA5183819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文本占位符 3">
            <a:extLst>
              <a:ext uri="{FF2B5EF4-FFF2-40B4-BE49-F238E27FC236}">
                <a16:creationId xmlns:a16="http://schemas.microsoft.com/office/drawing/2014/main" id="{52D5B6D7-5947-2AFD-1822-D6AF9A7EF221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ABFECCD2-2D09-CC7F-6CFA-1F707E2B545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4C83FC3-1429-4BE2-AF3A-FD0092C2A7EC}" type="datetimeFigureOut">
              <a:rPr lang="zh-CN" altLang="en-US" smtClean="0"/>
              <a:t>2026/1/4</a:t>
            </a:fld>
            <a:endParaRPr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75FCB1B5-809B-9394-D17B-AFC19F327A0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4AA9D75A-3F91-6601-1F3F-2B85A718CF7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F22058F-549E-4618-96BC-544ED8E98B16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94081569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C71396FA-FD57-3262-3A2A-B6F98B47818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图片占位符 2">
            <a:extLst>
              <a:ext uri="{FF2B5EF4-FFF2-40B4-BE49-F238E27FC236}">
                <a16:creationId xmlns:a16="http://schemas.microsoft.com/office/drawing/2014/main" id="{7F6E36ED-0A10-F6A2-0EFD-62A9B3A57EFA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zh-CN" altLang="en-US"/>
          </a:p>
        </p:txBody>
      </p:sp>
      <p:sp>
        <p:nvSpPr>
          <p:cNvPr id="4" name="文本占位符 3">
            <a:extLst>
              <a:ext uri="{FF2B5EF4-FFF2-40B4-BE49-F238E27FC236}">
                <a16:creationId xmlns:a16="http://schemas.microsoft.com/office/drawing/2014/main" id="{80ABE833-02EF-639D-21BB-520A8CDF8540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E179F275-933B-B1F0-7105-1152227AB22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4C83FC3-1429-4BE2-AF3A-FD0092C2A7EC}" type="datetimeFigureOut">
              <a:rPr lang="zh-CN" altLang="en-US" smtClean="0"/>
              <a:t>2026/1/4</a:t>
            </a:fld>
            <a:endParaRPr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81FB4BE4-CE0B-5E80-C0AC-A10F61AC850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C7C64DB4-E61A-7C45-56DE-D9983480A9D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F22058F-549E-4618-96BC-544ED8E98B16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72366516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60D96F0B-DBA1-2C4B-660E-69B0736D80D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>
            <a:extLst>
              <a:ext uri="{FF2B5EF4-FFF2-40B4-BE49-F238E27FC236}">
                <a16:creationId xmlns:a16="http://schemas.microsoft.com/office/drawing/2014/main" id="{265E22BD-716E-B788-AEB2-41BB2114C0D9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11794750-62E9-20C7-3963-DE3248E34F6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4C83FC3-1429-4BE2-AF3A-FD0092C2A7EC}" type="datetimeFigureOut">
              <a:rPr lang="zh-CN" altLang="en-US" smtClean="0"/>
              <a:t>2026/1/4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9236C9E6-FD23-36DE-4A6D-C8FF518EDFA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35DBFDC5-3AFD-95BA-4962-02CCB7DD0E6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F22058F-549E-4618-96BC-544ED8E98B16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05760840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>
            <a:extLst>
              <a:ext uri="{FF2B5EF4-FFF2-40B4-BE49-F238E27FC236}">
                <a16:creationId xmlns:a16="http://schemas.microsoft.com/office/drawing/2014/main" id="{C7EF2C60-C201-2855-574E-8BCD2C63C9D9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>
            <a:extLst>
              <a:ext uri="{FF2B5EF4-FFF2-40B4-BE49-F238E27FC236}">
                <a16:creationId xmlns:a16="http://schemas.microsoft.com/office/drawing/2014/main" id="{276C2A4C-B980-43AF-0C14-B516A1320FBD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7F24107E-24EE-0EBF-19C7-E3386F44F34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4C83FC3-1429-4BE2-AF3A-FD0092C2A7EC}" type="datetimeFigureOut">
              <a:rPr lang="zh-CN" altLang="en-US" smtClean="0"/>
              <a:t>2026/1/4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69E0B5E9-14ED-01B1-9797-32C60533AFF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567E98BE-B037-11DB-9182-285098DEE1C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F22058F-549E-4618-96BC-544ED8E98B16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61711184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>
            <a:extLst>
              <a:ext uri="{FF2B5EF4-FFF2-40B4-BE49-F238E27FC236}">
                <a16:creationId xmlns:a16="http://schemas.microsoft.com/office/drawing/2014/main" id="{D14341C6-F011-8E5B-E5DC-6F5A13CC060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142850ED-4667-38DA-84CB-A0F7C9C987F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474B9722-CD5A-FAB9-0EA3-FFA7B6261E68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B4C83FC3-1429-4BE2-AF3A-FD0092C2A7EC}" type="datetimeFigureOut">
              <a:rPr lang="zh-CN" altLang="en-US" smtClean="0"/>
              <a:t>2026/1/4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90BCB3D1-D4E6-E9E2-5234-842F06986FC1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F6A7D72E-ED07-A1A2-AFFB-806FD787A0E7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AF22058F-549E-4618-96BC-544ED8E98B16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09848386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圆柱体 3">
            <a:extLst>
              <a:ext uri="{FF2B5EF4-FFF2-40B4-BE49-F238E27FC236}">
                <a16:creationId xmlns:a16="http://schemas.microsoft.com/office/drawing/2014/main" id="{36D5E173-F17A-522F-CD8E-D9ECA80750E4}"/>
              </a:ext>
            </a:extLst>
          </p:cNvPr>
          <p:cNvSpPr/>
          <p:nvPr/>
        </p:nvSpPr>
        <p:spPr>
          <a:xfrm>
            <a:off x="735321" y="2004562"/>
            <a:ext cx="1835136" cy="3228619"/>
          </a:xfrm>
          <a:prstGeom prst="can">
            <a:avLst/>
          </a:prstGeom>
        </p:spPr>
        <p:style>
          <a:lnRef idx="1">
            <a:schemeClr val="dk1"/>
          </a:lnRef>
          <a:fillRef idx="2">
            <a:schemeClr val="dk1"/>
          </a:fillRef>
          <a:effectRef idx="1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zh-CN" sz="1600" dirty="0">
                <a:solidFill>
                  <a:schemeClr val="bg1"/>
                </a:solidFill>
              </a:rPr>
              <a:t>History articles</a:t>
            </a:r>
            <a:endParaRPr lang="zh-CN" altLang="en-US" sz="1600" dirty="0">
              <a:solidFill>
                <a:schemeClr val="bg1"/>
              </a:solidFill>
            </a:endParaRPr>
          </a:p>
        </p:txBody>
      </p:sp>
      <p:sp>
        <p:nvSpPr>
          <p:cNvPr id="5" name="文本框 4">
            <a:extLst>
              <a:ext uri="{FF2B5EF4-FFF2-40B4-BE49-F238E27FC236}">
                <a16:creationId xmlns:a16="http://schemas.microsoft.com/office/drawing/2014/main" id="{80847674-4241-B712-72A6-E077C02B54FF}"/>
              </a:ext>
            </a:extLst>
          </p:cNvPr>
          <p:cNvSpPr txBox="1"/>
          <p:nvPr/>
        </p:nvSpPr>
        <p:spPr>
          <a:xfrm>
            <a:off x="1324369" y="1651535"/>
            <a:ext cx="587631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1200" b="1" dirty="0"/>
              <a:t>Data</a:t>
            </a:r>
            <a:endParaRPr lang="zh-CN" altLang="en-US" b="1" dirty="0"/>
          </a:p>
        </p:txBody>
      </p:sp>
      <p:sp>
        <p:nvSpPr>
          <p:cNvPr id="12" name="箭头: 右 11">
            <a:extLst>
              <a:ext uri="{FF2B5EF4-FFF2-40B4-BE49-F238E27FC236}">
                <a16:creationId xmlns:a16="http://schemas.microsoft.com/office/drawing/2014/main" id="{A963215A-8176-DB98-1521-595EA8B5B1C4}"/>
              </a:ext>
            </a:extLst>
          </p:cNvPr>
          <p:cNvSpPr/>
          <p:nvPr/>
        </p:nvSpPr>
        <p:spPr>
          <a:xfrm>
            <a:off x="2653952" y="3414116"/>
            <a:ext cx="613988" cy="211130"/>
          </a:xfrm>
          <a:prstGeom prst="rightArrow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zh-CN" altLang="en-US" sz="1400" dirty="0"/>
          </a:p>
        </p:txBody>
      </p:sp>
      <p:sp>
        <p:nvSpPr>
          <p:cNvPr id="13" name="文本框 12">
            <a:extLst>
              <a:ext uri="{FF2B5EF4-FFF2-40B4-BE49-F238E27FC236}">
                <a16:creationId xmlns:a16="http://schemas.microsoft.com/office/drawing/2014/main" id="{A172C1CE-3417-6638-9147-CAF217473F41}"/>
              </a:ext>
            </a:extLst>
          </p:cNvPr>
          <p:cNvSpPr txBox="1"/>
          <p:nvPr/>
        </p:nvSpPr>
        <p:spPr>
          <a:xfrm>
            <a:off x="2570457" y="3048254"/>
            <a:ext cx="807822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1100" b="1" dirty="0"/>
              <a:t>Retrieval</a:t>
            </a:r>
            <a:endParaRPr lang="zh-CN" altLang="en-US" sz="1400" b="1" dirty="0"/>
          </a:p>
        </p:txBody>
      </p:sp>
      <p:sp>
        <p:nvSpPr>
          <p:cNvPr id="14" name="文本框 13">
            <a:extLst>
              <a:ext uri="{FF2B5EF4-FFF2-40B4-BE49-F238E27FC236}">
                <a16:creationId xmlns:a16="http://schemas.microsoft.com/office/drawing/2014/main" id="{469D9722-C502-97D4-2DF2-75C1917BF113}"/>
              </a:ext>
            </a:extLst>
          </p:cNvPr>
          <p:cNvSpPr txBox="1"/>
          <p:nvPr/>
        </p:nvSpPr>
        <p:spPr>
          <a:xfrm>
            <a:off x="3285944" y="1651534"/>
            <a:ext cx="2052746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1200" b="1" dirty="0"/>
              <a:t>TOP 100~500  Candidates</a:t>
            </a:r>
            <a:endParaRPr lang="zh-CN" altLang="en-US" sz="1200" b="1" dirty="0"/>
          </a:p>
        </p:txBody>
      </p:sp>
      <p:sp>
        <p:nvSpPr>
          <p:cNvPr id="21" name="文本框 20">
            <a:extLst>
              <a:ext uri="{FF2B5EF4-FFF2-40B4-BE49-F238E27FC236}">
                <a16:creationId xmlns:a16="http://schemas.microsoft.com/office/drawing/2014/main" id="{60910CEB-3C0A-84C0-F0F4-169D743A25C0}"/>
              </a:ext>
            </a:extLst>
          </p:cNvPr>
          <p:cNvSpPr txBox="1"/>
          <p:nvPr/>
        </p:nvSpPr>
        <p:spPr>
          <a:xfrm>
            <a:off x="7992956" y="3048254"/>
            <a:ext cx="718688" cy="26160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1100" b="1" dirty="0"/>
              <a:t>Ranking</a:t>
            </a:r>
            <a:endParaRPr lang="zh-CN" altLang="en-US" sz="1400" b="1" dirty="0"/>
          </a:p>
        </p:txBody>
      </p:sp>
      <p:sp>
        <p:nvSpPr>
          <p:cNvPr id="22" name="文本框 21">
            <a:extLst>
              <a:ext uri="{FF2B5EF4-FFF2-40B4-BE49-F238E27FC236}">
                <a16:creationId xmlns:a16="http://schemas.microsoft.com/office/drawing/2014/main" id="{2A135061-D722-3096-5260-3232BC2C33CB}"/>
              </a:ext>
            </a:extLst>
          </p:cNvPr>
          <p:cNvSpPr txBox="1"/>
          <p:nvPr/>
        </p:nvSpPr>
        <p:spPr>
          <a:xfrm>
            <a:off x="9381702" y="1651534"/>
            <a:ext cx="1133925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1200" b="1" dirty="0"/>
              <a:t>TOP 20 news</a:t>
            </a:r>
            <a:endParaRPr lang="zh-CN" altLang="en-US" sz="1200" b="1" dirty="0"/>
          </a:p>
        </p:txBody>
      </p:sp>
      <p:sp>
        <p:nvSpPr>
          <p:cNvPr id="23" name="矩形: 圆角 22">
            <a:extLst>
              <a:ext uri="{FF2B5EF4-FFF2-40B4-BE49-F238E27FC236}">
                <a16:creationId xmlns:a16="http://schemas.microsoft.com/office/drawing/2014/main" id="{4340A349-C581-893E-E7FF-E017173AADE2}"/>
              </a:ext>
            </a:extLst>
          </p:cNvPr>
          <p:cNvSpPr/>
          <p:nvPr/>
        </p:nvSpPr>
        <p:spPr>
          <a:xfrm>
            <a:off x="8981559" y="2789115"/>
            <a:ext cx="1934212" cy="1508565"/>
          </a:xfrm>
          <a:prstGeom prst="roundRect">
            <a:avLst/>
          </a:prstGeom>
        </p:spPr>
        <p:style>
          <a:lnRef idx="1">
            <a:schemeClr val="dk1"/>
          </a:lnRef>
          <a:fillRef idx="2">
            <a:schemeClr val="dk1"/>
          </a:fillRef>
          <a:effectRef idx="1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zh-CN" sz="1400" dirty="0">
                <a:solidFill>
                  <a:schemeClr val="bg1"/>
                </a:solidFill>
              </a:rPr>
              <a:t>Lightgbm</a:t>
            </a:r>
            <a:endParaRPr lang="zh-CN" altLang="en-US" sz="1400" dirty="0">
              <a:solidFill>
                <a:schemeClr val="bg1"/>
              </a:solidFill>
            </a:endParaRPr>
          </a:p>
        </p:txBody>
      </p:sp>
      <p:sp>
        <p:nvSpPr>
          <p:cNvPr id="26" name="矩形 25">
            <a:extLst>
              <a:ext uri="{FF2B5EF4-FFF2-40B4-BE49-F238E27FC236}">
                <a16:creationId xmlns:a16="http://schemas.microsoft.com/office/drawing/2014/main" id="{447AC32C-D4B4-43CE-F8F5-A16536DA2543}"/>
              </a:ext>
            </a:extLst>
          </p:cNvPr>
          <p:cNvSpPr/>
          <p:nvPr/>
        </p:nvSpPr>
        <p:spPr>
          <a:xfrm>
            <a:off x="3378280" y="2687241"/>
            <a:ext cx="1796655" cy="291889"/>
          </a:xfrm>
          <a:prstGeom prst="rect">
            <a:avLst/>
          </a:prstGeom>
        </p:spPr>
        <p:style>
          <a:lnRef idx="1">
            <a:schemeClr val="dk1"/>
          </a:lnRef>
          <a:fillRef idx="2">
            <a:schemeClr val="dk1"/>
          </a:fillRef>
          <a:effectRef idx="1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zh-CN" sz="1400" dirty="0">
                <a:solidFill>
                  <a:schemeClr val="bg1"/>
                </a:solidFill>
              </a:rPr>
              <a:t>Itemcf - TOP N</a:t>
            </a:r>
            <a:endParaRPr lang="zh-CN" altLang="en-US" sz="1400" dirty="0">
              <a:solidFill>
                <a:schemeClr val="bg1"/>
              </a:solidFill>
            </a:endParaRPr>
          </a:p>
        </p:txBody>
      </p:sp>
      <p:sp>
        <p:nvSpPr>
          <p:cNvPr id="27" name="矩形 26">
            <a:extLst>
              <a:ext uri="{FF2B5EF4-FFF2-40B4-BE49-F238E27FC236}">
                <a16:creationId xmlns:a16="http://schemas.microsoft.com/office/drawing/2014/main" id="{04FFFE69-020F-BEB2-1626-FBBA43FEA79F}"/>
              </a:ext>
            </a:extLst>
          </p:cNvPr>
          <p:cNvSpPr/>
          <p:nvPr/>
        </p:nvSpPr>
        <p:spPr>
          <a:xfrm>
            <a:off x="3371569" y="3630738"/>
            <a:ext cx="1796655" cy="291889"/>
          </a:xfrm>
          <a:prstGeom prst="rect">
            <a:avLst/>
          </a:prstGeom>
        </p:spPr>
        <p:style>
          <a:lnRef idx="1">
            <a:schemeClr val="dk1"/>
          </a:lnRef>
          <a:fillRef idx="2">
            <a:schemeClr val="dk1"/>
          </a:fillRef>
          <a:effectRef idx="1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zh-CN" sz="1400" dirty="0">
                <a:solidFill>
                  <a:schemeClr val="bg1"/>
                </a:solidFill>
              </a:rPr>
              <a:t>Popularity - TOP N</a:t>
            </a:r>
            <a:endParaRPr lang="zh-CN" altLang="en-US" sz="1400" dirty="0">
              <a:solidFill>
                <a:schemeClr val="bg1"/>
              </a:solidFill>
            </a:endParaRPr>
          </a:p>
        </p:txBody>
      </p:sp>
      <p:sp>
        <p:nvSpPr>
          <p:cNvPr id="28" name="矩形 27">
            <a:extLst>
              <a:ext uri="{FF2B5EF4-FFF2-40B4-BE49-F238E27FC236}">
                <a16:creationId xmlns:a16="http://schemas.microsoft.com/office/drawing/2014/main" id="{8EC5E15B-15D9-B1C6-454E-EBB67AA1C72F}"/>
              </a:ext>
            </a:extLst>
          </p:cNvPr>
          <p:cNvSpPr/>
          <p:nvPr/>
        </p:nvSpPr>
        <p:spPr>
          <a:xfrm>
            <a:off x="3371569" y="4022822"/>
            <a:ext cx="1796655" cy="291889"/>
          </a:xfrm>
          <a:prstGeom prst="rect">
            <a:avLst/>
          </a:prstGeom>
        </p:spPr>
        <p:style>
          <a:lnRef idx="1">
            <a:schemeClr val="dk1"/>
          </a:lnRef>
          <a:fillRef idx="2">
            <a:schemeClr val="dk1"/>
          </a:fillRef>
          <a:effectRef idx="1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zh-CN" sz="1400" dirty="0">
                <a:solidFill>
                  <a:schemeClr val="bg1"/>
                </a:solidFill>
              </a:rPr>
              <a:t>Bert - TOP N</a:t>
            </a:r>
            <a:endParaRPr lang="zh-CN" altLang="en-US" sz="1400" dirty="0">
              <a:solidFill>
                <a:schemeClr val="bg1"/>
              </a:solidFill>
            </a:endParaRPr>
          </a:p>
        </p:txBody>
      </p:sp>
      <p:sp>
        <p:nvSpPr>
          <p:cNvPr id="33" name="右大括号 32">
            <a:extLst>
              <a:ext uri="{FF2B5EF4-FFF2-40B4-BE49-F238E27FC236}">
                <a16:creationId xmlns:a16="http://schemas.microsoft.com/office/drawing/2014/main" id="{9B27A3D9-16E5-E2A4-12BF-6E67BEBA8CAD}"/>
              </a:ext>
            </a:extLst>
          </p:cNvPr>
          <p:cNvSpPr/>
          <p:nvPr/>
        </p:nvSpPr>
        <p:spPr>
          <a:xfrm>
            <a:off x="5278566" y="2789114"/>
            <a:ext cx="273120" cy="1848199"/>
          </a:xfrm>
          <a:prstGeom prst="rightBrac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zh-CN" altLang="en-US" dirty="0"/>
          </a:p>
        </p:txBody>
      </p:sp>
      <p:sp>
        <p:nvSpPr>
          <p:cNvPr id="34" name="文本框 33">
            <a:extLst>
              <a:ext uri="{FF2B5EF4-FFF2-40B4-BE49-F238E27FC236}">
                <a16:creationId xmlns:a16="http://schemas.microsoft.com/office/drawing/2014/main" id="{F7D3BF49-02A0-7FFC-BCF1-29C537F3E193}"/>
              </a:ext>
            </a:extLst>
          </p:cNvPr>
          <p:cNvSpPr txBox="1"/>
          <p:nvPr/>
        </p:nvSpPr>
        <p:spPr>
          <a:xfrm>
            <a:off x="5596497" y="1651534"/>
            <a:ext cx="2906186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1200" b="1" dirty="0"/>
              <a:t>Concentrate &amp; Feature engineering</a:t>
            </a:r>
            <a:endParaRPr lang="zh-CN" altLang="en-US" sz="1200" b="1" dirty="0"/>
          </a:p>
        </p:txBody>
      </p:sp>
      <p:sp>
        <p:nvSpPr>
          <p:cNvPr id="35" name="矩形: 圆角 34">
            <a:extLst>
              <a:ext uri="{FF2B5EF4-FFF2-40B4-BE49-F238E27FC236}">
                <a16:creationId xmlns:a16="http://schemas.microsoft.com/office/drawing/2014/main" id="{6E29A6D6-26DD-8EEB-71C5-FD1063BCD297}"/>
              </a:ext>
            </a:extLst>
          </p:cNvPr>
          <p:cNvSpPr/>
          <p:nvPr/>
        </p:nvSpPr>
        <p:spPr>
          <a:xfrm>
            <a:off x="5661599" y="2340340"/>
            <a:ext cx="2331357" cy="2520048"/>
          </a:xfrm>
          <a:prstGeom prst="roundRect">
            <a:avLst/>
          </a:prstGeom>
        </p:spPr>
        <p:style>
          <a:lnRef idx="1">
            <a:schemeClr val="dk1"/>
          </a:lnRef>
          <a:fillRef idx="2">
            <a:schemeClr val="dk1"/>
          </a:fillRef>
          <a:effectRef idx="1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zh-CN" sz="1600" dirty="0">
                <a:solidFill>
                  <a:schemeClr val="bg1"/>
                </a:solidFill>
              </a:rPr>
              <a:t>    Articles attribute	</a:t>
            </a:r>
          </a:p>
          <a:p>
            <a:pPr algn="ctr"/>
            <a:r>
              <a:rPr lang="en-US" altLang="zh-CN" sz="1600" dirty="0">
                <a:solidFill>
                  <a:schemeClr val="bg1"/>
                </a:solidFill>
              </a:rPr>
              <a:t>User active attributes</a:t>
            </a:r>
          </a:p>
          <a:p>
            <a:pPr algn="ctr"/>
            <a:r>
              <a:rPr lang="en-US" altLang="zh-CN" sz="1600" dirty="0">
                <a:solidFill>
                  <a:schemeClr val="bg1"/>
                </a:solidFill>
              </a:rPr>
              <a:t>Itemcf score</a:t>
            </a:r>
          </a:p>
          <a:p>
            <a:pPr algn="ctr"/>
            <a:r>
              <a:rPr lang="en-US" altLang="zh-CN" sz="1600" dirty="0">
                <a:solidFill>
                  <a:schemeClr val="bg1"/>
                </a:solidFill>
              </a:rPr>
              <a:t>Word2vec score</a:t>
            </a:r>
          </a:p>
          <a:p>
            <a:pPr algn="ctr"/>
            <a:r>
              <a:rPr lang="en-US" altLang="zh-CN" sz="1600" dirty="0">
                <a:solidFill>
                  <a:schemeClr val="bg1"/>
                </a:solidFill>
              </a:rPr>
              <a:t>Recall source</a:t>
            </a:r>
          </a:p>
          <a:p>
            <a:pPr algn="ctr"/>
            <a:r>
              <a:rPr lang="en-US" altLang="zh-CN" sz="1600" dirty="0">
                <a:solidFill>
                  <a:schemeClr val="bg1"/>
                </a:solidFill>
              </a:rPr>
              <a:t>…</a:t>
            </a:r>
            <a:endParaRPr lang="zh-CN" altLang="en-US" sz="1600" dirty="0">
              <a:solidFill>
                <a:schemeClr val="bg1"/>
              </a:solidFill>
            </a:endParaRPr>
          </a:p>
        </p:txBody>
      </p:sp>
      <p:sp>
        <p:nvSpPr>
          <p:cNvPr id="39" name="箭头: 右 38">
            <a:extLst>
              <a:ext uri="{FF2B5EF4-FFF2-40B4-BE49-F238E27FC236}">
                <a16:creationId xmlns:a16="http://schemas.microsoft.com/office/drawing/2014/main" id="{DD886E79-56E5-C732-B702-5D26401DB02C}"/>
              </a:ext>
            </a:extLst>
          </p:cNvPr>
          <p:cNvSpPr/>
          <p:nvPr/>
        </p:nvSpPr>
        <p:spPr>
          <a:xfrm>
            <a:off x="8045306" y="3414116"/>
            <a:ext cx="613988" cy="211130"/>
          </a:xfrm>
          <a:prstGeom prst="rightArrow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zh-CN" altLang="en-US" sz="1400" dirty="0"/>
          </a:p>
        </p:txBody>
      </p:sp>
      <p:sp>
        <p:nvSpPr>
          <p:cNvPr id="2" name="矩形 1">
            <a:extLst>
              <a:ext uri="{FF2B5EF4-FFF2-40B4-BE49-F238E27FC236}">
                <a16:creationId xmlns:a16="http://schemas.microsoft.com/office/drawing/2014/main" id="{03130C96-14A6-3118-E775-E99D3A7A7921}"/>
              </a:ext>
            </a:extLst>
          </p:cNvPr>
          <p:cNvSpPr/>
          <p:nvPr/>
        </p:nvSpPr>
        <p:spPr>
          <a:xfrm>
            <a:off x="3371571" y="3087099"/>
            <a:ext cx="1796653" cy="419104"/>
          </a:xfrm>
          <a:prstGeom prst="rect">
            <a:avLst/>
          </a:prstGeom>
        </p:spPr>
        <p:style>
          <a:lnRef idx="1">
            <a:schemeClr val="dk1"/>
          </a:lnRef>
          <a:fillRef idx="2">
            <a:schemeClr val="dk1"/>
          </a:fillRef>
          <a:effectRef idx="1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zh-CN" sz="1400" dirty="0">
                <a:solidFill>
                  <a:schemeClr val="bg1"/>
                </a:solidFill>
              </a:rPr>
              <a:t>Content-Based</a:t>
            </a:r>
          </a:p>
          <a:p>
            <a:pPr algn="ctr"/>
            <a:r>
              <a:rPr lang="en-US" altLang="zh-CN" sz="1400" dirty="0">
                <a:solidFill>
                  <a:schemeClr val="bg1"/>
                </a:solidFill>
              </a:rPr>
              <a:t> - TOP N</a:t>
            </a:r>
            <a:endParaRPr lang="zh-CN" altLang="en-US" sz="1400" dirty="0">
              <a:solidFill>
                <a:schemeClr val="bg1"/>
              </a:solidFill>
            </a:endParaRPr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F7836767-6FC6-4F8B-06F2-1266D3608D96}"/>
              </a:ext>
            </a:extLst>
          </p:cNvPr>
          <p:cNvSpPr/>
          <p:nvPr/>
        </p:nvSpPr>
        <p:spPr>
          <a:xfrm>
            <a:off x="3371569" y="4449700"/>
            <a:ext cx="1796655" cy="291889"/>
          </a:xfrm>
          <a:prstGeom prst="rect">
            <a:avLst/>
          </a:prstGeom>
        </p:spPr>
        <p:style>
          <a:lnRef idx="1">
            <a:schemeClr val="dk1"/>
          </a:lnRef>
          <a:fillRef idx="2">
            <a:schemeClr val="dk1"/>
          </a:fillRef>
          <a:effectRef idx="1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zh-CN" sz="1400" dirty="0">
                <a:solidFill>
                  <a:schemeClr val="bg1"/>
                </a:solidFill>
              </a:rPr>
              <a:t>LightGCN - TOP N</a:t>
            </a:r>
            <a:endParaRPr lang="zh-CN" altLang="en-US" sz="1400" dirty="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261811985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等线 Light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等线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75</TotalTime>
  <Words>51</Words>
  <Application>Microsoft Office PowerPoint</Application>
  <PresentationFormat>宽屏</PresentationFormat>
  <Paragraphs>20</Paragraphs>
  <Slides>1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3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</vt:i4>
      </vt:variant>
    </vt:vector>
  </HeadingPairs>
  <TitlesOfParts>
    <vt:vector size="5" baseType="lpstr">
      <vt:lpstr>等线</vt:lpstr>
      <vt:lpstr>等线 Light</vt:lpstr>
      <vt:lpstr>Arial</vt:lpstr>
      <vt:lpstr>Office 主题​​</vt:lpstr>
      <vt:lpstr>PowerPoint 演示文稿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明宇 周</dc:creator>
  <cp:lastModifiedBy>明宇 周</cp:lastModifiedBy>
  <cp:revision>3</cp:revision>
  <dcterms:created xsi:type="dcterms:W3CDTF">2026-01-04T02:26:03Z</dcterms:created>
  <dcterms:modified xsi:type="dcterms:W3CDTF">2026-01-04T09:43:15Z</dcterms:modified>
</cp:coreProperties>
</file>